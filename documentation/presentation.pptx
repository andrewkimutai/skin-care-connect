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77BDD5E-E79C-4C67-86D8-C3796CBA9119}" type="datetimeFigureOut">
              <a:rPr lang="en-US" smtClean="0"/>
              <a:t>1/27/2026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986212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7BDD5E-E79C-4C67-86D8-C3796CBA9119}"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1204643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7BDD5E-E79C-4C67-86D8-C3796CBA9119}"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3341753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7BDD5E-E79C-4C67-86D8-C3796CBA9119}"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2901646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7BDD5E-E79C-4C67-86D8-C3796CBA9119}"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2662327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7BDD5E-E79C-4C67-86D8-C3796CBA9119}"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415020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7BDD5E-E79C-4C67-86D8-C3796CBA9119}"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3285911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BDD5E-E79C-4C67-86D8-C3796CBA9119}"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53411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BDD5E-E79C-4C67-86D8-C3796CBA9119}"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651814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BDD5E-E79C-4C67-86D8-C3796CBA9119}"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4281884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7BDD5E-E79C-4C67-86D8-C3796CBA9119}"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1972915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7BDD5E-E79C-4C67-86D8-C3796CBA9119}"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4195438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7BDD5E-E79C-4C67-86D8-C3796CBA9119}"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41907500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77BDD5E-E79C-4C67-86D8-C3796CBA9119}"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3137568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77BDD5E-E79C-4C67-86D8-C3796CBA9119}" type="datetimeFigureOut">
              <a:rPr lang="en-US" smtClean="0"/>
              <a:t>1/27/2026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23698269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77BDD5E-E79C-4C67-86D8-C3796CBA9119}"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2319301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77BDD5E-E79C-4C67-86D8-C3796CBA9119}"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E266B2-4DF6-42B0-83E7-0D0D2341BD52}" type="slidenum">
              <a:rPr lang="en-US" smtClean="0"/>
              <a:t>‹#›</a:t>
            </a:fld>
            <a:endParaRPr lang="en-US"/>
          </a:p>
        </p:txBody>
      </p:sp>
    </p:spTree>
    <p:extLst>
      <p:ext uri="{BB962C8B-B14F-4D97-AF65-F5344CB8AC3E}">
        <p14:creationId xmlns:p14="http://schemas.microsoft.com/office/powerpoint/2010/main" val="900101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77BDD5E-E79C-4C67-86D8-C3796CBA9119}" type="datetimeFigureOut">
              <a:rPr lang="en-US" smtClean="0"/>
              <a:t>1/27/2026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FE266B2-4DF6-42B0-83E7-0D0D2341BD52}" type="slidenum">
              <a:rPr lang="en-US" smtClean="0"/>
              <a:t>‹#›</a:t>
            </a:fld>
            <a:endParaRPr lang="en-US"/>
          </a:p>
        </p:txBody>
      </p:sp>
    </p:spTree>
    <p:extLst>
      <p:ext uri="{BB962C8B-B14F-4D97-AF65-F5344CB8AC3E}">
        <p14:creationId xmlns:p14="http://schemas.microsoft.com/office/powerpoint/2010/main" val="233615665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06727-E606-3716-3E1B-82750EFF4667}"/>
              </a:ext>
            </a:extLst>
          </p:cNvPr>
          <p:cNvSpPr>
            <a:spLocks noGrp="1"/>
          </p:cNvSpPr>
          <p:nvPr>
            <p:ph type="ctrTitle"/>
          </p:nvPr>
        </p:nvSpPr>
        <p:spPr>
          <a:xfrm>
            <a:off x="1154954" y="2099733"/>
            <a:ext cx="10340359" cy="2677648"/>
          </a:xfrm>
        </p:spPr>
        <p:txBody>
          <a:bodyPr/>
          <a:lstStyle/>
          <a:p>
            <a:r>
              <a:rPr lang="en-US" sz="3200" dirty="0"/>
              <a:t>Prepared by: Andrew Kimutai Kiptoo C027-01-1062/2022</a:t>
            </a:r>
            <a:br>
              <a:rPr lang="en-US" sz="3200" dirty="0"/>
            </a:br>
            <a:r>
              <a:rPr lang="en-US" sz="3200" dirty="0"/>
              <a:t>Date: 27th January 2026</a:t>
            </a:r>
            <a:br>
              <a:rPr lang="en-US" sz="3200" dirty="0"/>
            </a:br>
            <a:r>
              <a:rPr lang="en-US" sz="3200" dirty="0"/>
              <a:t>Dedan Kimathi University of Technology (</a:t>
            </a:r>
            <a:r>
              <a:rPr lang="en-US" sz="3200" dirty="0" err="1"/>
              <a:t>DeKUT</a:t>
            </a:r>
            <a:r>
              <a:rPr lang="en-US" sz="3200" dirty="0"/>
              <a:t>)</a:t>
            </a:r>
            <a:br>
              <a:rPr lang="en-US" sz="3200" dirty="0"/>
            </a:br>
            <a:endParaRPr lang="en-US" sz="3200" dirty="0"/>
          </a:p>
        </p:txBody>
      </p:sp>
      <p:sp>
        <p:nvSpPr>
          <p:cNvPr id="3" name="Subtitle 2">
            <a:extLst>
              <a:ext uri="{FF2B5EF4-FFF2-40B4-BE49-F238E27FC236}">
                <a16:creationId xmlns:a16="http://schemas.microsoft.com/office/drawing/2014/main" id="{11276213-84FB-79DE-7F20-3E81C9DFEFD7}"/>
              </a:ext>
            </a:extLst>
          </p:cNvPr>
          <p:cNvSpPr>
            <a:spLocks noGrp="1"/>
          </p:cNvSpPr>
          <p:nvPr>
            <p:ph type="subTitle" idx="1"/>
          </p:nvPr>
        </p:nvSpPr>
        <p:spPr>
          <a:xfrm>
            <a:off x="1154955" y="1021809"/>
            <a:ext cx="8825658" cy="861420"/>
          </a:xfrm>
        </p:spPr>
        <p:txBody>
          <a:bodyPr>
            <a:normAutofit fontScale="62500" lnSpcReduction="20000"/>
          </a:bodyPr>
          <a:lstStyle/>
          <a:p>
            <a:r>
              <a:rPr lang="en-GB" sz="4000" b="1" dirty="0"/>
              <a:t>Skin Care Connect: Integrated Skin Disease Detection and Dermatologist Booking Platform</a:t>
            </a:r>
            <a:endParaRPr lang="en-US" dirty="0"/>
          </a:p>
        </p:txBody>
      </p:sp>
    </p:spTree>
    <p:extLst>
      <p:ext uri="{BB962C8B-B14F-4D97-AF65-F5344CB8AC3E}">
        <p14:creationId xmlns:p14="http://schemas.microsoft.com/office/powerpoint/2010/main" val="2361315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AA58E-992D-1FB2-2663-AF11E8399CB5}"/>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A2646A5E-7ECF-780C-3EC0-FCE7F8ED538D}"/>
              </a:ext>
            </a:extLst>
          </p:cNvPr>
          <p:cNvSpPr>
            <a:spLocks noGrp="1"/>
          </p:cNvSpPr>
          <p:nvPr>
            <p:ph idx="1"/>
          </p:nvPr>
        </p:nvSpPr>
        <p:spPr/>
        <p:txBody>
          <a:bodyPr>
            <a:normAutofit fontScale="85000" lnSpcReduction="10000"/>
          </a:bodyPr>
          <a:lstStyle/>
          <a:p>
            <a:r>
              <a:rPr lang="en-US" dirty="0"/>
              <a:t>Skin diseases represent a significant global health burden, affecting approximately 2 billion people worldwide at any given time. In many regions, particularly rural and underserved communities, access to dermatological expertise is severely limited. The World Health Organization reports that there is approximately one dermatologist per 2 million people in some African countries, creating a critical gap in skin disease diagnosis and treatment.</a:t>
            </a:r>
            <a:br>
              <a:rPr lang="en-US" dirty="0"/>
            </a:br>
            <a:r>
              <a:rPr lang="en-US" dirty="0"/>
              <a:t>The current diagnostic process for skin conditions relies heavily on visual inspection by trained specialists. This approach presents several challenges:</a:t>
            </a:r>
          </a:p>
          <a:p>
            <a:r>
              <a:rPr lang="en-US" dirty="0"/>
              <a:t>Geographic barriers: Patients in remote areas often travel long distances to reach specialists.</a:t>
            </a:r>
          </a:p>
          <a:p>
            <a:r>
              <a:rPr lang="en-US" dirty="0"/>
              <a:t>Time delays: Long waiting periods for appointments can lead to disease progression.</a:t>
            </a:r>
          </a:p>
          <a:p>
            <a:r>
              <a:rPr lang="en-US" dirty="0"/>
              <a:t>Subjectivity: Diagnosis can vary between practitioners due to experience levels.</a:t>
            </a:r>
          </a:p>
          <a:p>
            <a:r>
              <a:rPr lang="en-US" dirty="0"/>
              <a:t>Cost factors: Specialist consultations are often expensive for average patients.</a:t>
            </a:r>
          </a:p>
        </p:txBody>
      </p:sp>
    </p:spTree>
    <p:extLst>
      <p:ext uri="{BB962C8B-B14F-4D97-AF65-F5344CB8AC3E}">
        <p14:creationId xmlns:p14="http://schemas.microsoft.com/office/powerpoint/2010/main" val="71303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F0D65-9BDF-76FE-44F0-A8EF4293E184}"/>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E006BFD9-E8F1-FB7E-FEE7-81EFCABF9F5D}"/>
              </a:ext>
            </a:extLst>
          </p:cNvPr>
          <p:cNvSpPr>
            <a:spLocks noGrp="1"/>
          </p:cNvSpPr>
          <p:nvPr>
            <p:ph idx="1"/>
          </p:nvPr>
        </p:nvSpPr>
        <p:spPr>
          <a:xfrm>
            <a:off x="457200" y="2275114"/>
            <a:ext cx="11016343" cy="4365172"/>
          </a:xfrm>
        </p:spPr>
        <p:txBody>
          <a:bodyPr>
            <a:normAutofit lnSpcReduction="10000"/>
          </a:bodyPr>
          <a:lstStyle/>
          <a:p>
            <a:r>
              <a:rPr lang="en-US" b="1" dirty="0"/>
              <a:t>Primary Objectives:</a:t>
            </a:r>
            <a:endParaRPr lang="en-US" dirty="0"/>
          </a:p>
          <a:p>
            <a:r>
              <a:rPr lang="en-GB" dirty="0"/>
              <a:t>Design and implement a custom CNN model for 7-class skin disease classification (HAM10000) that achieves a minimum accuracy of 80% on a validation dataset.</a:t>
            </a:r>
          </a:p>
          <a:p>
            <a:r>
              <a:rPr lang="en-GB" dirty="0"/>
              <a:t>Develop a user-friendly </a:t>
            </a:r>
            <a:r>
              <a:rPr lang="en-GB" dirty="0" err="1"/>
              <a:t>Streamlit</a:t>
            </a:r>
            <a:r>
              <a:rPr lang="en-GB" dirty="0"/>
              <a:t>-based web application that allows users to upload skin images for preliminary assessment and book appointments with verified dermatologists using </a:t>
            </a:r>
            <a:r>
              <a:rPr lang="en-GB" dirty="0" err="1"/>
              <a:t>Streamlit's</a:t>
            </a:r>
            <a:r>
              <a:rPr lang="en-GB" dirty="0"/>
              <a:t> interactive widgets and layout features.</a:t>
            </a:r>
          </a:p>
          <a:p>
            <a:r>
              <a:rPr lang="en-GB" dirty="0"/>
              <a:t>Implement an image validation system that uses HSV </a:t>
            </a:r>
            <a:r>
              <a:rPr lang="en-GB" dirty="0" err="1"/>
              <a:t>color</a:t>
            </a:r>
            <a:r>
              <a:rPr lang="en-GB" dirty="0"/>
              <a:t> space analysis to verify that uploaded images contain sufficient skin content (minimum 10%), rejecting non-skin images before classification within the </a:t>
            </a:r>
            <a:r>
              <a:rPr lang="en-GB" dirty="0" err="1"/>
              <a:t>Streamlit</a:t>
            </a:r>
            <a:r>
              <a:rPr lang="en-GB" dirty="0"/>
              <a:t> flow.</a:t>
            </a:r>
          </a:p>
          <a:p>
            <a:r>
              <a:rPr lang="en-GB" dirty="0"/>
              <a:t>Integrate the assessment and booking workflows in </a:t>
            </a:r>
            <a:r>
              <a:rPr lang="en-GB" dirty="0" err="1"/>
              <a:t>Streamlit</a:t>
            </a:r>
            <a:r>
              <a:rPr lang="en-GB" dirty="0"/>
              <a:t>, allowing users to easily schedule a consultation based on their AI-generated results using session state management.</a:t>
            </a:r>
          </a:p>
          <a:p>
            <a:r>
              <a:rPr lang="en-GB" dirty="0"/>
              <a:t>Deploy the complete integrated </a:t>
            </a:r>
            <a:r>
              <a:rPr lang="en-GB" dirty="0" err="1"/>
              <a:t>Streamlit</a:t>
            </a:r>
            <a:r>
              <a:rPr lang="en-GB" dirty="0"/>
              <a:t> application with documentation and user manual by the end of the project timeline (15 weeks), ensuring it can run efficiently using </a:t>
            </a:r>
            <a:r>
              <a:rPr lang="en-GB" dirty="0" err="1"/>
              <a:t>Streamlit's</a:t>
            </a:r>
            <a:r>
              <a:rPr lang="en-GB" dirty="0"/>
              <a:t> sharing capabilities or a standard server setup.</a:t>
            </a:r>
            <a:endParaRPr lang="en-US" dirty="0"/>
          </a:p>
        </p:txBody>
      </p:sp>
    </p:spTree>
    <p:extLst>
      <p:ext uri="{BB962C8B-B14F-4D97-AF65-F5344CB8AC3E}">
        <p14:creationId xmlns:p14="http://schemas.microsoft.com/office/powerpoint/2010/main" val="3310834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C3AEC-9EEA-A43D-3AFB-DB1B24344857}"/>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B009D9E4-C84F-D85B-93B5-6E0A784A0C8C}"/>
              </a:ext>
            </a:extLst>
          </p:cNvPr>
          <p:cNvSpPr>
            <a:spLocks noGrp="1"/>
          </p:cNvSpPr>
          <p:nvPr>
            <p:ph idx="1"/>
          </p:nvPr>
        </p:nvSpPr>
        <p:spPr>
          <a:xfrm>
            <a:off x="567126" y="2253343"/>
            <a:ext cx="10688703" cy="4517571"/>
          </a:xfrm>
        </p:spPr>
        <p:txBody>
          <a:bodyPr>
            <a:normAutofit/>
          </a:bodyPr>
          <a:lstStyle/>
          <a:p>
            <a:r>
              <a:rPr lang="en-US" dirty="0"/>
              <a:t>• Agile development approach with iterative cycles and stakeholder feedback.</a:t>
            </a:r>
          </a:p>
          <a:p>
            <a:r>
              <a:rPr lang="en-US" dirty="0"/>
              <a:t>Machine Learning Approach:</a:t>
            </a:r>
          </a:p>
          <a:p>
            <a:r>
              <a:rPr lang="en-US" dirty="0"/>
              <a:t>Model Type: CNN for image classification.</a:t>
            </a:r>
          </a:p>
          <a:p>
            <a:r>
              <a:rPr lang="en-US" dirty="0"/>
              <a:t>Architecture: Transfer learning using a pre-trained model (e.g., ResNet50) as the base.</a:t>
            </a:r>
          </a:p>
          <a:p>
            <a:r>
              <a:rPr lang="en-US" dirty="0"/>
              <a:t>Task: Multi-class classification (7 classes from HAM10000).</a:t>
            </a:r>
          </a:p>
          <a:p>
            <a:r>
              <a:rPr lang="en-US" dirty="0"/>
              <a:t>Training: Supervised learning using the HAM10000 dataset.</a:t>
            </a:r>
          </a:p>
          <a:p>
            <a:r>
              <a:rPr lang="en-US" dirty="0"/>
              <a:t>Validation: Split data into training, validation, and test sets; use cross-validation techniques.</a:t>
            </a:r>
          </a:p>
          <a:p>
            <a:r>
              <a:rPr lang="en-US" dirty="0"/>
              <a:t>Data Handling: Uses the HAM10000 dataset (HAM10000_metadata.csv and image files) organized into class-specific folders for training and evaluation. Data augmentation techniques are applied during training</a:t>
            </a:r>
          </a:p>
          <a:p>
            <a:r>
              <a:rPr lang="en-US" dirty="0"/>
              <a:t>Technology Stack: Python, TensorFlow/</a:t>
            </a:r>
            <a:r>
              <a:rPr lang="en-US" dirty="0" err="1"/>
              <a:t>Keras</a:t>
            </a:r>
            <a:r>
              <a:rPr lang="en-US" dirty="0"/>
              <a:t> for ML, OpenCV/PIL for image processing, </a:t>
            </a:r>
            <a:r>
              <a:rPr lang="en-US" dirty="0" err="1"/>
              <a:t>Streamlit</a:t>
            </a:r>
            <a:r>
              <a:rPr lang="en-US" dirty="0"/>
              <a:t> for the web interface.</a:t>
            </a:r>
          </a:p>
        </p:txBody>
      </p:sp>
    </p:spTree>
    <p:extLst>
      <p:ext uri="{BB962C8B-B14F-4D97-AF65-F5344CB8AC3E}">
        <p14:creationId xmlns:p14="http://schemas.microsoft.com/office/powerpoint/2010/main" val="780420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C7A85-211E-034A-03C8-046C69D5D779}"/>
              </a:ext>
            </a:extLst>
          </p:cNvPr>
          <p:cNvSpPr>
            <a:spLocks noGrp="1"/>
          </p:cNvSpPr>
          <p:nvPr>
            <p:ph type="title"/>
          </p:nvPr>
        </p:nvSpPr>
        <p:spPr/>
        <p:txBody>
          <a:bodyPr/>
          <a:lstStyle/>
          <a:p>
            <a:r>
              <a:rPr lang="en-US" dirty="0"/>
              <a:t>Confusion matrix</a:t>
            </a:r>
          </a:p>
        </p:txBody>
      </p:sp>
      <p:pic>
        <p:nvPicPr>
          <p:cNvPr id="5" name="Content Placeholder 4">
            <a:extLst>
              <a:ext uri="{FF2B5EF4-FFF2-40B4-BE49-F238E27FC236}">
                <a16:creationId xmlns:a16="http://schemas.microsoft.com/office/drawing/2014/main" id="{3E886A5E-2975-E1D9-1DF1-876B870575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6429" y="2264229"/>
            <a:ext cx="11092542" cy="4593771"/>
          </a:xfrm>
        </p:spPr>
      </p:pic>
    </p:spTree>
    <p:extLst>
      <p:ext uri="{BB962C8B-B14F-4D97-AF65-F5344CB8AC3E}">
        <p14:creationId xmlns:p14="http://schemas.microsoft.com/office/powerpoint/2010/main" val="3179070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6B51-06A3-7F0E-6423-1BA859A14F4B}"/>
              </a:ext>
            </a:extLst>
          </p:cNvPr>
          <p:cNvSpPr>
            <a:spLocks noGrp="1"/>
          </p:cNvSpPr>
          <p:nvPr>
            <p:ph type="title"/>
          </p:nvPr>
        </p:nvSpPr>
        <p:spPr/>
        <p:txBody>
          <a:bodyPr/>
          <a:lstStyle/>
          <a:p>
            <a:r>
              <a:rPr lang="en-US" dirty="0"/>
              <a:t>Model</a:t>
            </a:r>
            <a:br>
              <a:rPr lang="en-US" dirty="0"/>
            </a:br>
            <a:endParaRPr lang="en-US" dirty="0"/>
          </a:p>
        </p:txBody>
      </p:sp>
      <p:pic>
        <p:nvPicPr>
          <p:cNvPr id="5" name="Content Placeholder 4">
            <a:extLst>
              <a:ext uri="{FF2B5EF4-FFF2-40B4-BE49-F238E27FC236}">
                <a16:creationId xmlns:a16="http://schemas.microsoft.com/office/drawing/2014/main" id="{FB49AD6F-00C5-179F-A2E7-C1B8279C00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2198915"/>
            <a:ext cx="11397343" cy="4506686"/>
          </a:xfrm>
        </p:spPr>
      </p:pic>
    </p:spTree>
    <p:extLst>
      <p:ext uri="{BB962C8B-B14F-4D97-AF65-F5344CB8AC3E}">
        <p14:creationId xmlns:p14="http://schemas.microsoft.com/office/powerpoint/2010/main" val="33667438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180</TotalTime>
  <Words>481</Words>
  <Application>Microsoft Office PowerPoint</Application>
  <PresentationFormat>Widescreen</PresentationFormat>
  <Paragraphs>27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Ion Boardroom</vt:lpstr>
      <vt:lpstr>Prepared by: Andrew Kimutai Kiptoo C027-01-1062/2022 Date: 27th January 2026 Dedan Kimathi University of Technology (DeKUT) </vt:lpstr>
      <vt:lpstr>Problem Statement</vt:lpstr>
      <vt:lpstr>Objectives</vt:lpstr>
      <vt:lpstr>Methodology</vt:lpstr>
      <vt:lpstr>Confusion matrix</vt:lpstr>
      <vt:lpstr>Model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George Ngumo</dc:creator>
  <cp:lastModifiedBy>Andy Keam</cp:lastModifiedBy>
  <cp:revision>9</cp:revision>
  <dcterms:created xsi:type="dcterms:W3CDTF">2025-12-09T08:24:32Z</dcterms:created>
  <dcterms:modified xsi:type="dcterms:W3CDTF">2026-01-27T05:19:47Z</dcterms:modified>
</cp:coreProperties>
</file>